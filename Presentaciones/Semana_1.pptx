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8"/>
  </p:normalViewPr>
  <p:slideViewPr>
    <p:cSldViewPr snapToGrid="0" snapToObjects="1">
      <p:cViewPr varScale="1">
        <p:scale>
          <a:sx n="77" d="100"/>
          <a:sy n="77" d="100"/>
        </p:scale>
        <p:origin x="10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77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Bienvenida a la Semana 1 de Metodologías Ágiles. Basado en T1.pdf, T2.pdf y T3.pdf.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Basado en T1.pdf: Manifiesto Ágil, 4 valores y 12 principios.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Basado en T1.pdf (Caso TRADICIONAL S.A.): Comparación ágil vs cascada.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Basado en T2.pdf: Empirismo y Roles de Scrum.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Basado en T2.pdf: Artefactos, Compromisos y Eventos de Scrum.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Basado en T3.pdf: Principios, Tablero Kanban y WIP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Basado en T3.pdf: Métricas de Kanban, Lead Time, Cycle Time y CFD.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Síntesis integradora de T1.pdf, T2.pdf y T3.pdf.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Planificación docente e itinerario semanal de 6h presenciales + autodirigido.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Resumen de cierre y transición hacia la Semana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645920"/>
            <a:ext cx="182880" cy="3474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dirty="0"/>
              <a:t>Ingeniería de Software: </a:t>
            </a:r>
            <a:r>
              <a:rPr dirty="0" err="1"/>
              <a:t>Metodologías</a:t>
            </a:r>
            <a:r>
              <a:rPr dirty="0"/>
              <a:t> </a:t>
            </a:r>
            <a:r>
              <a:rPr dirty="0" err="1"/>
              <a:t>Ágiles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097280" y="3188792"/>
            <a:ext cx="100584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1200"/>
              </a:spcBef>
              <a:defRPr sz="2000">
                <a:solidFill>
                  <a:srgbClr val="0284C7"/>
                </a:solidFill>
                <a:latin typeface="Verdana"/>
              </a:defRPr>
            </a:pPr>
            <a:r>
              <a:rPr lang="es-MX" dirty="0"/>
              <a:t>Presentación Interactiva — Semana 1: Manifiesto Ágil, Framework Scrum y Método Kanban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INGENIERÍA DE SOFTWARE — METODOLOGÍAS ÁGILES (SEMANA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Georgia"/>
              </a:defRPr>
            </a:pPr>
            <a:r>
              <a:t>El Manifiesto Ágil transformó el desarrollo de software al priorizar las personas y la adaptabilidad desde 2001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Curso de Metodologías Ágiles | Tercer Semestre | Página 2 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8404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284C7"/>
                </a:solidFill>
                <a:latin typeface="Georgia"/>
              </a:defRPr>
            </a:pPr>
            <a:r>
              <a:t>Línea del Tiempo &amp; Evolución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1986: </a:t>
            </a:r>
            <a:r>
              <a:rPr b="0">
                <a:solidFill>
                  <a:srgbClr val="64748B"/>
                </a:solidFill>
              </a:rPr>
              <a:t>Takeuchi &amp; Nonaka publican 'The New New Product Development Game' (Rugby approach).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1995: </a:t>
            </a:r>
            <a:r>
              <a:rPr b="0">
                <a:solidFill>
                  <a:srgbClr val="64748B"/>
                </a:solidFill>
              </a:rPr>
              <a:t>Sutherland y Schwaber presentan Scrum; Kent Beck formula Extreme Programming (XP).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2001: </a:t>
            </a:r>
            <a:r>
              <a:rPr b="0">
                <a:solidFill>
                  <a:srgbClr val="64748B"/>
                </a:solidFill>
              </a:rPr>
              <a:t>Snowbird Summit: 17 desarrolladores firman el Manifiesto Ágil con 4 valores y 12 principios.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2010: </a:t>
            </a:r>
            <a:r>
              <a:rPr b="0">
                <a:solidFill>
                  <a:srgbClr val="64748B"/>
                </a:solidFill>
              </a:rPr>
              <a:t>David J. Anderson adapta el sistema Kanban de Toyota al desarrollo de software.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737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1. Individuos e Interacciones</a:t>
            </a:r>
          </a:p>
          <a:p>
            <a:pPr>
              <a:defRPr sz="1000" b="1">
                <a:solidFill>
                  <a:srgbClr val="D97706"/>
                </a:solidFill>
                <a:latin typeface="Verdana"/>
              </a:defRPr>
            </a:pPr>
            <a:r>
              <a:t>sobre procesos y herramientas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Fomenta la comunicación directa y el trabajo colaborativo en equipo.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2. Software Funcionando</a:t>
            </a:r>
          </a:p>
          <a:p>
            <a:pPr>
              <a:defRPr sz="1000" b="1">
                <a:solidFill>
                  <a:srgbClr val="D97706"/>
                </a:solidFill>
                <a:latin typeface="Verdana"/>
              </a:defRPr>
            </a:pPr>
            <a:r>
              <a:t>sobre documentación exhaustiva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Prioriza la entrega de incrementos probados y funcionales.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023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3. Colaboración con el Cliente</a:t>
            </a:r>
          </a:p>
          <a:p>
            <a:pPr>
              <a:defRPr sz="1000" b="1">
                <a:solidFill>
                  <a:srgbClr val="D97706"/>
                </a:solidFill>
                <a:latin typeface="Verdana"/>
              </a:defRPr>
            </a:pPr>
            <a:r>
              <a:t>sobre negociación contractual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Integra al cliente como aliado continuo para alinear valor.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4. Respuesta ante el Cambio</a:t>
            </a:r>
          </a:p>
          <a:p>
            <a:pPr>
              <a:defRPr sz="1000" b="1">
                <a:solidFill>
                  <a:srgbClr val="D97706"/>
                </a:solidFill>
                <a:latin typeface="Verdana"/>
              </a:defRPr>
            </a:pPr>
            <a:r>
              <a:t>sobre seguir un plan rígido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Abraza la flexibilidad y la adaptación como ventaja competitiva.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INGENIERÍA DE SOFTWARE — METODOLOGÍAS ÁGILES (SEMANA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Georgia"/>
              </a:defRPr>
            </a:pPr>
            <a:r>
              <a:t>Las metodologías ágiles reducen el riesgo de entrega frente a la rigidez secuencial del modelo en Cascada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Curso de Metodologías Ágiles | Tercer Semestre | Página 3 de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Criterio de Evaluación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Modelo Tradicional (Cascada)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Metodología Ágil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Enfoque de Proyecto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Predictivo, secuencial y lineal por fases cerradas.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Adaptativo, iterativo e incremental en ciclos cortos.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Gestión del Cambio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Resistencia alta; requiere contratos y aprobaciones costosas.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El cambio se abraza como oportunidad de mejora de valor.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Entrega del Producto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Unica entrega masiva al final del ciclo de vida.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Entregas continuas e incrementos funcionales periódicos.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Involucramiento del Cliente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Limitado al inicio (requisitos) y al final (pruebas).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Colaboración activa e interacción constante en cada iteración.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Mitigación de Riesgos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Riesgo acumulado alto; fallos detectados en fases tardías.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Riesgo distribuido bajo; corrección continua tras cada feedback.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INGENIERÍA DE SOFTWARE — METODOLOGÍAS ÁGILES (SEMANA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Georgia"/>
              </a:defRPr>
            </a:pPr>
            <a:r>
              <a:t>Scrum organiza equipos multidisciplinarios mediante tres roles definidos y tres pilares empíricos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Curso de Metodologías Ágiles | Tercer Semestre | Página 4 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56432" cy="14630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284C7"/>
                </a:solidFill>
                <a:latin typeface="Georgia"/>
              </a:defRPr>
            </a:pPr>
            <a:r>
              <a:t>Pilar: Transparencia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Verdana"/>
              </a:defRPr>
            </a:pPr>
            <a:r>
              <a:t>Aspectos del proceso visibles para los responsables del resultado. Definición común de Hecho.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737360"/>
            <a:ext cx="3456432" cy="14630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284C7"/>
                </a:solidFill>
                <a:latin typeface="Georgia"/>
              </a:defRPr>
            </a:pPr>
            <a:r>
              <a:t>Pilar: Inspección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Verdana"/>
              </a:defRPr>
            </a:pPr>
            <a:r>
              <a:t>Evaluación frecuente de artefactos y avance hacia la Meta del Sprint para detectar desvíos.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737360"/>
            <a:ext cx="3456432" cy="14630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284C7"/>
                </a:solidFill>
                <a:latin typeface="Georgia"/>
              </a:defRPr>
            </a:pPr>
            <a:r>
              <a:t>Pilar: Adaptación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Verdana"/>
              </a:defRPr>
            </a:pPr>
            <a:r>
              <a:t>Ajuste inmediato del proceso o producto si la inspección muestra desviaciones inaceptables.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3456432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  <a:latin typeface="Georgia"/>
              </a:defRPr>
            </a:pPr>
            <a:r>
              <a:t>Product Owner (PO)</a:t>
            </a:r>
          </a:p>
          <a:p>
            <a:pPr>
              <a:defRPr sz="1000" b="1">
                <a:solidFill>
                  <a:srgbClr val="D97706"/>
                </a:solidFill>
                <a:latin typeface="Verdana"/>
              </a:defRPr>
            </a:pPr>
            <a:r>
              <a:t>Maximiza el valor del producto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• Gestiona y prioriza el Product Backlog.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• Representa la voz del cliente y del negocio.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• Asegura la claridad de las Historias de Usuario.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383280"/>
            <a:ext cx="3456432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  <a:latin typeface="Georgia"/>
              </a:defRPr>
            </a:pPr>
            <a:r>
              <a:t>Scrum Master (SM)</a:t>
            </a:r>
          </a:p>
          <a:p>
            <a:pPr>
              <a:defRPr sz="1000" b="1">
                <a:solidFill>
                  <a:srgbClr val="D97706"/>
                </a:solidFill>
                <a:latin typeface="Verdana"/>
              </a:defRPr>
            </a:pPr>
            <a:r>
              <a:t>Líder que sirve y facilita el proceso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• Remueve impedimentos del equipo.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• Promueve la adopción teórica de Scrum.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• Facilita los eventos sin imponer jerarquía.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3383280"/>
            <a:ext cx="3456432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  <a:latin typeface="Georgia"/>
              </a:defRPr>
            </a:pPr>
            <a:r>
              <a:t>Equipo de Desarrollo</a:t>
            </a:r>
          </a:p>
          <a:p>
            <a:pPr>
              <a:defRPr sz="1000" b="1">
                <a:solidFill>
                  <a:srgbClr val="D97706"/>
                </a:solidFill>
                <a:latin typeface="Verdana"/>
              </a:defRPr>
            </a:pPr>
            <a:r>
              <a:t>Profesionales autoorganizados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• Multidisciplinarios (Dev, QA, UX, Arch).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• Crean el Incremento funcional cada Sprint.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• Estiman y asumen la responsabilidad técnica.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INGENIERÍA DE SOFTWARE — METODOLOGÍAS ÁGILES (SEMANA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Georgia"/>
              </a:defRPr>
            </a:pPr>
            <a:r>
              <a:t>Cinco eventos estructurados conectan los artefactos para asegurar entregas de valor en cada Sprint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Curso de Metodologías Ágiles | Tercer Semestre | Página 5 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284C7"/>
                </a:solidFill>
                <a:latin typeface="Georgia"/>
              </a:defRPr>
            </a:pPr>
            <a:r>
              <a:t>Artefactos y sus Compromisos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Verdana"/>
              </a:defRPr>
            </a:pPr>
            <a:r>
              <a:t>📦 Product Backlog</a:t>
            </a:r>
          </a:p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Lista ordenada de todo lo necesario en el producto.</a:t>
            </a:r>
          </a:p>
          <a:p>
            <a:pPr>
              <a:defRPr sz="1000" b="1">
                <a:solidFill>
                  <a:srgbClr val="D97706"/>
                </a:solidFill>
                <a:latin typeface="Verdana"/>
              </a:defRPr>
            </a:pPr>
            <a:r>
              <a:t>Compromiso: Meta del Producto (Product Goal)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Verdana"/>
              </a:defRPr>
            </a:pPr>
            <a:r>
              <a:t>📦 Sprint Backlog</a:t>
            </a:r>
          </a:p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Elementos seleccionados + plan de entrega del Sprint.</a:t>
            </a:r>
          </a:p>
          <a:p>
            <a:pPr>
              <a:defRPr sz="1000" b="1">
                <a:solidFill>
                  <a:srgbClr val="D97706"/>
                </a:solidFill>
                <a:latin typeface="Verdana"/>
              </a:defRPr>
            </a:pPr>
            <a:r>
              <a:t>Compromiso: Meta del Sprint (Sprint Goal)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Verdana"/>
              </a:defRPr>
            </a:pPr>
            <a:r>
              <a:t>📦 Incremento</a:t>
            </a:r>
          </a:p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Suma de elementos completados con calidad.</a:t>
            </a:r>
          </a:p>
          <a:p>
            <a:pPr>
              <a:defRPr sz="1000" b="1">
                <a:solidFill>
                  <a:srgbClr val="D97706"/>
                </a:solidFill>
                <a:latin typeface="Verdana"/>
              </a:defRPr>
            </a:pPr>
            <a:r>
              <a:t>Compromiso: Definición de Hecho (Definition of Done - DoD)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737360"/>
            <a:ext cx="6339535" cy="80467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Georgia"/>
              </a:defRPr>
            </a:pPr>
            <a:r>
              <a:t>1. Sprint Planning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Define qué se puede entregar y cómo se obtendrá el incremento en el Sprint (Máx 8h).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633472"/>
            <a:ext cx="6339535" cy="80467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Georgia"/>
              </a:defRPr>
            </a:pPr>
            <a:r>
              <a:t>2. Daily Scrum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Sincronización diaria de 15 min para inspeccionar avance hacia la Meta del Sprint.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529584"/>
            <a:ext cx="6339535" cy="80467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Georgia"/>
              </a:defRPr>
            </a:pPr>
            <a:r>
              <a:t>3. Sprint Review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Demostración del incremento con el Product Owner y stakeholders para recopilar feedback (Máx 4h).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4425696"/>
            <a:ext cx="6339535" cy="80467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Georgia"/>
              </a:defRPr>
            </a:pPr>
            <a:r>
              <a:t>4. Sprint Retrospective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Inspección de la eficacia del equipo (personas, procesos) e identificación de mejoras (Máx 3h).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5321808"/>
            <a:ext cx="6339535" cy="80467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Georgia"/>
              </a:defRPr>
            </a:pPr>
            <a:r>
              <a:t>5. El Sprint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Contenedor de 1 a 4 semanas donde se ejecuta el trabajo sin cambiar la Meta.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INGENIERÍA DE SOFTWARE — METODOLOGÍAS ÁGILES (SEMANA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Georgia"/>
              </a:defRPr>
            </a:pPr>
            <a:r>
              <a:t>Kanban optimiza el flujo continuo mediante la visualización del trabajo y la restricción estricta de WIP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Curso de Metodologías Ágiles | Tercer Semestre | Página 6 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29968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284C7"/>
                </a:solidFill>
                <a:latin typeface="Verdana"/>
              </a:defRPr>
            </a:pPr>
            <a:r>
              <a:t>Backlog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Verdana"/>
              </a:defRPr>
            </a:pPr>
            <a:r>
              <a:t>▫ US-01: Login OAuth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Verdana"/>
              </a:defRPr>
            </a:pPr>
            <a:r>
              <a:t>▫ US-02: API Pagos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Verdana"/>
              </a:defRPr>
            </a:pPr>
            <a:r>
              <a:t>▫ US-03: Export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737360"/>
            <a:ext cx="2029968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284C7"/>
                </a:solidFill>
                <a:latin typeface="Verdana"/>
              </a:defRPr>
            </a:pPr>
            <a:r>
              <a:t>To Do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Verdana"/>
              </a:defRPr>
            </a:pPr>
            <a:r>
              <a:t>▫ US-04: Filtro Búsqueda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737360"/>
            <a:ext cx="2029968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D97706"/>
                </a:solidFill>
                <a:latin typeface="Verdana"/>
              </a:defRPr>
            </a:pPr>
            <a:r>
              <a:t>In Progress (WIP: 2)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Verdana"/>
              </a:defRPr>
            </a:pPr>
            <a:r>
              <a:t>▫ US-05: BD Usuarios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Verdana"/>
              </a:defRPr>
            </a:pPr>
            <a:r>
              <a:t>▫ US-06: UI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737360"/>
            <a:ext cx="2029968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284C7"/>
                </a:solidFill>
                <a:latin typeface="Verdana"/>
              </a:defRPr>
            </a:pPr>
            <a:r>
              <a:t>Testing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Verdana"/>
              </a:defRPr>
            </a:pPr>
            <a:r>
              <a:t>▫ US-07: Test Unitario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737360"/>
            <a:ext cx="2029968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284C7"/>
                </a:solidFill>
                <a:latin typeface="Verdana"/>
              </a:defRPr>
            </a:pPr>
            <a:r>
              <a:t>Done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Verdana"/>
              </a:defRPr>
            </a:pPr>
            <a:r>
              <a:t>▫ US-08: Setup Repo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45643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Georgia"/>
              </a:defRPr>
            </a:pPr>
            <a:r>
              <a:t>1. Visualizar el Flujo</a:t>
            </a:r>
          </a:p>
          <a:p>
            <a:pPr>
              <a:defRPr sz="850">
                <a:solidFill>
                  <a:srgbClr val="64748B"/>
                </a:solidFill>
                <a:latin typeface="Verdana"/>
              </a:defRPr>
            </a:pPr>
            <a:r>
              <a:t>Hacer visible el trabajo y las etapas del proceso.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4023360"/>
            <a:ext cx="345643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Georgia"/>
              </a:defRPr>
            </a:pPr>
            <a:r>
              <a:t>2. Limitar el WIP</a:t>
            </a:r>
          </a:p>
          <a:p>
            <a:pPr>
              <a:defRPr sz="850">
                <a:solidFill>
                  <a:srgbClr val="64748B"/>
                </a:solidFill>
                <a:latin typeface="Verdana"/>
              </a:defRPr>
            </a:pPr>
            <a:r>
              <a:t>Restringir multitarea para acelerar la entrega final.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4023360"/>
            <a:ext cx="345643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Georgia"/>
              </a:defRPr>
            </a:pPr>
            <a:r>
              <a:t>3. Gestionar el Flujo</a:t>
            </a:r>
          </a:p>
          <a:p>
            <a:pPr>
              <a:defRPr sz="850">
                <a:solidFill>
                  <a:srgbClr val="64748B"/>
                </a:solidFill>
                <a:latin typeface="Verdana"/>
              </a:defRPr>
            </a:pPr>
            <a:r>
              <a:t>Monitorear y optimizar el paso de tareas continuo.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345643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Georgia"/>
              </a:defRPr>
            </a:pPr>
            <a:r>
              <a:t>4. Políticas Explícitas</a:t>
            </a:r>
          </a:p>
          <a:p>
            <a:pPr>
              <a:defRPr sz="850">
                <a:solidFill>
                  <a:srgbClr val="64748B"/>
                </a:solidFill>
                <a:latin typeface="Verdana"/>
              </a:defRPr>
            </a:pPr>
            <a:r>
              <a:t>Definir criterios claros de entrada y salida por columna.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5074920"/>
            <a:ext cx="345643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Georgia"/>
              </a:defRPr>
            </a:pPr>
            <a:r>
              <a:t>5. Feedback Loops</a:t>
            </a:r>
          </a:p>
          <a:p>
            <a:pPr>
              <a:defRPr sz="850">
                <a:solidFill>
                  <a:srgbClr val="64748B"/>
                </a:solidFill>
                <a:latin typeface="Verdana"/>
              </a:defRPr>
            </a:pPr>
            <a:r>
              <a:t>Implementar reuniones de revisión de flujo regulares.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5074920"/>
            <a:ext cx="345643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Georgia"/>
              </a:defRPr>
            </a:pPr>
            <a:r>
              <a:t>6. Mejora Evolutiva</a:t>
            </a:r>
          </a:p>
          <a:p>
            <a:pPr>
              <a:defRPr sz="850">
                <a:solidFill>
                  <a:srgbClr val="64748B"/>
                </a:solidFill>
                <a:latin typeface="Verdana"/>
              </a:defRPr>
            </a:pPr>
            <a:r>
              <a:t>Evolucionar experimentalmente mediante el Kaizen.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INGENIERÍA DE SOFTWARE — METODOLOGÍAS ÁGILES (SEMANA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Georgia"/>
              </a:defRPr>
            </a:pPr>
            <a:r>
              <a:t>Las métricas de Lead Time y Cycle Time visibilizan cuellos de botella para acelerar la velocidad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Curso de Metodologías Ágiles | Tercer Semestre | Página 7 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284C7"/>
                </a:solidFill>
                <a:latin typeface="Georgia"/>
              </a:defRPr>
            </a:pPr>
            <a:r>
              <a:t>Lead Time (Tiempo de Entrega)</a:t>
            </a:r>
          </a:p>
          <a:p>
            <a:pPr>
              <a:defRPr sz="950">
                <a:solidFill>
                  <a:srgbClr val="64748B"/>
                </a:solidFill>
                <a:latin typeface="Verdana"/>
              </a:defRPr>
            </a:pPr>
            <a:r>
              <a:t>Desde la solicitud del cliente hasta la entrega final en producción.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39"/>
            <a:ext cx="50292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D97706"/>
                </a:solidFill>
                <a:latin typeface="Georgia"/>
              </a:defRPr>
            </a:pPr>
            <a:r>
              <a:t>Cycle Time (Tiempo de Ciclo)</a:t>
            </a:r>
          </a:p>
          <a:p>
            <a:pPr>
              <a:defRPr sz="950">
                <a:solidFill>
                  <a:srgbClr val="64748B"/>
                </a:solidFill>
                <a:latin typeface="Verdana"/>
              </a:defRPr>
            </a:pPr>
            <a:r>
              <a:t>Desde que el desarrollador inicia la tarea activamente hasta que se completa.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0292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59669"/>
                </a:solidFill>
                <a:latin typeface="Georgia"/>
              </a:defRPr>
            </a:pPr>
            <a:r>
              <a:t>Throughput (Rendimiento)</a:t>
            </a:r>
          </a:p>
          <a:p>
            <a:pPr>
              <a:defRPr sz="950">
                <a:solidFill>
                  <a:srgbClr val="64748B"/>
                </a:solidFill>
                <a:latin typeface="Verdana"/>
              </a:defRPr>
            </a:pPr>
            <a:r>
              <a:t>Cantidad de elementos o tareas completadas por unidad de tiempo definida.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50292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Georgia"/>
              </a:defRPr>
            </a:pPr>
            <a:r>
              <a:t>WIP Limit (Límite de Trabajo)</a:t>
            </a:r>
          </a:p>
          <a:p>
            <a:pPr>
              <a:defRPr sz="950">
                <a:solidFill>
                  <a:srgbClr val="64748B"/>
                </a:solidFill>
                <a:latin typeface="Verdana"/>
              </a:defRPr>
            </a:pPr>
            <a:r>
              <a:t>Máximo número de tareas autorizadas en paralelo en un estado del flujo.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533369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172A"/>
                </a:solidFill>
                <a:latin typeface="Georgia"/>
              </a:defRPr>
            </a:pPr>
            <a:r>
              <a:t>Diagrama de Flujo Acumulado (CFD)</a:t>
            </a:r>
          </a:p>
          <a:p>
            <a:pPr>
              <a:spcBef>
                <a:spcPts val="800"/>
              </a:spcBef>
              <a:defRPr sz="1000" b="1">
                <a:solidFill>
                  <a:srgbClr val="0284C7"/>
                </a:solidFill>
                <a:latin typeface="Verdana"/>
              </a:defRPr>
            </a:pPr>
            <a:r>
              <a:t>• Visualización Global: </a:t>
            </a:r>
            <a:r>
              <a:rPr b="0">
                <a:solidFill>
                  <a:srgbClr val="0F172A"/>
                </a:solidFill>
              </a:rPr>
              <a:t>Representa el área acumulada de tareas en cada estado a lo largo del tiempo.</a:t>
            </a:r>
          </a:p>
          <a:p>
            <a:pPr>
              <a:spcBef>
                <a:spcPts val="800"/>
              </a:spcBef>
              <a:defRPr sz="1000" b="1">
                <a:solidFill>
                  <a:srgbClr val="0284C7"/>
                </a:solidFill>
                <a:latin typeface="Verdana"/>
              </a:defRPr>
            </a:pPr>
            <a:r>
              <a:t>• Identificación de Cuellos de Botella: </a:t>
            </a:r>
            <a:r>
              <a:rPr b="0">
                <a:solidFill>
                  <a:srgbClr val="0F172A"/>
                </a:solidFill>
              </a:rPr>
              <a:t>Una banda horizontal que se ensancha indica acumulación excesiva de WIP y bloqueo en esa fase.</a:t>
            </a:r>
          </a:p>
          <a:p>
            <a:pPr>
              <a:spcBef>
                <a:spcPts val="800"/>
              </a:spcBef>
              <a:defRPr sz="1000" b="1">
                <a:solidFill>
                  <a:srgbClr val="0284C7"/>
                </a:solidFill>
                <a:latin typeface="Verdana"/>
              </a:defRPr>
            </a:pPr>
            <a:r>
              <a:t>• Ley de Little Aplicada: </a:t>
            </a:r>
            <a:r>
              <a:rPr b="0">
                <a:solidFill>
                  <a:srgbClr val="0F172A"/>
                </a:solidFill>
              </a:rPr>
              <a:t>Demuestra matemáticamente que reducir el WIP disminuye directamente el Cycle Time medio:</a:t>
            </a:r>
          </a:p>
          <a:p>
            <a:pPr>
              <a:spcBef>
                <a:spcPts val="800"/>
              </a:spcBef>
              <a:defRPr sz="1000" b="1">
                <a:solidFill>
                  <a:srgbClr val="0284C7"/>
                </a:solidFill>
                <a:latin typeface="Verdana"/>
              </a:defRPr>
            </a:pPr>
            <a:r>
              <a:t>• Fórmula de Little: </a:t>
            </a:r>
            <a:r>
              <a:rPr b="0">
                <a:solidFill>
                  <a:srgbClr val="0F172A"/>
                </a:solidFill>
              </a:rPr>
              <a:t>Cycle Time = Work in Progress (WIP) / Throughput (Rendimiento).</a:t>
            </a:r>
          </a:p>
          <a:p>
            <a:pPr>
              <a:spcBef>
                <a:spcPts val="800"/>
              </a:spcBef>
              <a:defRPr sz="1000" b="1">
                <a:solidFill>
                  <a:srgbClr val="0284C7"/>
                </a:solidFill>
                <a:latin typeface="Verdana"/>
              </a:defRPr>
            </a:pPr>
            <a:r>
              <a:t>• Estabilidad del Flujo: </a:t>
            </a:r>
            <a:r>
              <a:rPr b="0">
                <a:solidFill>
                  <a:srgbClr val="0F172A"/>
                </a:solidFill>
              </a:rPr>
              <a:t>Líneas paralelas y constantes reflejan un proceso predecible y balanceado.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INGENIERÍA DE SOFTWARE — METODOLOGÍAS ÁGILES (SEMANA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Georgia"/>
              </a:defRPr>
            </a:pPr>
            <a:r>
              <a:t>La elección del framework depende de la estabilidad del entorno y la necesidad de entregas continuas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Curso de Metodologías Ágiles | Tercer Semestre | Página 8 de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Criterio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Metodologías Ágiles (General)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Framework Scrum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Método Kanban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Filosofía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Conjunto de 4 valores y 12 principios rectores.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Marco prescriptivo ligero basado en empirismo.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Sistema de gestión visual de flujo continuo.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Cadencia de Entrega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Frecuente (Semanas o Meses).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Iteraciones fijas (Sprints de 1 a 4 semanas).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Flujo continuo / Continuous Delivery.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Roles Asignados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Equipos autoorganizados y colaborativos.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3 roles estrictos: Product Owner, Scrum Master, Developers.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No prescribe roles nuevos; respeta la estructura actual.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Gestión del Cambio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Bienvenido en cualquier fase.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No se alteran objetivos durante el Sprint activo.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Se modifican prioridades en To Do según capacidad.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Verdana"/>
                        </a:defRPr>
                      </a:pPr>
                      <a:r>
                        <a:t>Métrica Principal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Software funcionando / Valor percibido.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Velocidad del Sprint y Burndown Chart.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Lead Time, Cycle Time y Throughput.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INGENIERÍA DE SOFTWARE — METODOLOGÍAS ÁGILES (SEMANA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Georgia"/>
              </a:defRPr>
            </a:pPr>
            <a:r>
              <a:t>La planificación semanal combina 6 horas presenciales con 2 actividades autodirigidas de impacto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Curso de Metodologías Ágiles | Tercer Semestre | Página 9 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2996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Lunes (2h)</a:t>
            </a:r>
          </a:p>
          <a:p>
            <a:pPr>
              <a:defRPr sz="950" b="1">
                <a:solidFill>
                  <a:srgbClr val="059669"/>
                </a:solidFill>
                <a:latin typeface="Verdana"/>
              </a:defRPr>
            </a:pPr>
            <a:r>
              <a:t>Presencial — Tema 1</a:t>
            </a:r>
          </a:p>
          <a:p>
            <a:pPr>
              <a:spcBef>
                <a:spcPts val="800"/>
              </a:spcBef>
              <a:defRPr sz="900">
                <a:solidFill>
                  <a:srgbClr val="0F172A"/>
                </a:solidFill>
                <a:latin typeface="Verdana"/>
              </a:defRPr>
            </a:pPr>
            <a:r>
              <a:t>📘 Cátedra: Manifiesto y Principios Ágiles.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  <a:latin typeface="Verdana"/>
              </a:defRPr>
            </a:pPr>
            <a:r>
              <a:t>🛠️ Actividad Salón (35 min): Debate estructurado 'Cascada vs. Agilidad'.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737360"/>
            <a:ext cx="202996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Martes (2h)</a:t>
            </a:r>
          </a:p>
          <a:p>
            <a:pPr>
              <a:defRPr sz="950" b="1">
                <a:solidFill>
                  <a:srgbClr val="059669"/>
                </a:solidFill>
                <a:latin typeface="Verdana"/>
              </a:defRPr>
            </a:pPr>
            <a:r>
              <a:t>Presencial — Tema 2</a:t>
            </a:r>
          </a:p>
          <a:p>
            <a:pPr>
              <a:spcBef>
                <a:spcPts val="800"/>
              </a:spcBef>
              <a:defRPr sz="900">
                <a:solidFill>
                  <a:srgbClr val="0F172A"/>
                </a:solidFill>
                <a:latin typeface="Verdana"/>
              </a:defRPr>
            </a:pPr>
            <a:r>
              <a:t>📘 Cátedra: Framework Scrum (Roles y Artefactos).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  <a:latin typeface="Verdana"/>
              </a:defRPr>
            </a:pPr>
            <a:r>
              <a:t>🛠️ Actividad Salón (40 min): Taller Scrum Role-Play y Backlog.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737360"/>
            <a:ext cx="202996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Miércoles</a:t>
            </a:r>
          </a:p>
          <a:p>
            <a:pPr>
              <a:defRPr sz="950" b="1">
                <a:solidFill>
                  <a:srgbClr val="D97706"/>
                </a:solidFill>
                <a:latin typeface="Verdana"/>
              </a:defRPr>
            </a:pPr>
            <a:r>
              <a:t>Autodirigido</a:t>
            </a:r>
          </a:p>
          <a:p>
            <a:pPr>
              <a:spcBef>
                <a:spcPts val="800"/>
              </a:spcBef>
              <a:defRPr sz="900">
                <a:solidFill>
                  <a:srgbClr val="0F172A"/>
                </a:solidFill>
                <a:latin typeface="Verdana"/>
              </a:defRPr>
            </a:pPr>
            <a:r>
              <a:t>📘 Caso de Estudio: Análisis de cuellos de botella.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  <a:latin typeface="Verdana"/>
              </a:defRPr>
            </a:pPr>
            <a:r>
              <a:t>🛠️ Entregable: Diagnóstico de fallos de flujo en desarrollo.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737360"/>
            <a:ext cx="202996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Jueves</a:t>
            </a:r>
          </a:p>
          <a:p>
            <a:pPr>
              <a:defRPr sz="950" b="1">
                <a:solidFill>
                  <a:srgbClr val="D97706"/>
                </a:solidFill>
                <a:latin typeface="Verdana"/>
              </a:defRPr>
            </a:pPr>
            <a:r>
              <a:t>Autodirigido</a:t>
            </a:r>
          </a:p>
          <a:p>
            <a:pPr>
              <a:spcBef>
                <a:spcPts val="800"/>
              </a:spcBef>
              <a:defRPr sz="900">
                <a:solidFill>
                  <a:srgbClr val="0F172A"/>
                </a:solidFill>
                <a:latin typeface="Verdana"/>
              </a:defRPr>
            </a:pPr>
            <a:r>
              <a:t>📘 Diseño de Tablero Kanban Digital.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  <a:latin typeface="Verdana"/>
              </a:defRPr>
            </a:pPr>
            <a:r>
              <a:t>🛠️ Entregable: Configuración en Trello/GitHub con WIP Limit.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737360"/>
            <a:ext cx="202996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Viernes (2h)</a:t>
            </a:r>
          </a:p>
          <a:p>
            <a:pPr>
              <a:defRPr sz="950" b="1">
                <a:solidFill>
                  <a:srgbClr val="059669"/>
                </a:solidFill>
                <a:latin typeface="Verdana"/>
              </a:defRPr>
            </a:pPr>
            <a:r>
              <a:t>Presencial — Tema 3</a:t>
            </a:r>
          </a:p>
          <a:p>
            <a:pPr>
              <a:spcBef>
                <a:spcPts val="800"/>
              </a:spcBef>
              <a:defRPr sz="900">
                <a:solidFill>
                  <a:srgbClr val="0F172A"/>
                </a:solidFill>
                <a:latin typeface="Verdana"/>
              </a:defRPr>
            </a:pPr>
            <a:r>
              <a:t>📘 Cátedra: Método Kanban y Métricas.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  <a:latin typeface="Verdana"/>
              </a:defRPr>
            </a:pPr>
            <a:r>
              <a:t>🛠️ Actividad Salón (35 min): Simulación de Flujo y Cuellos de Botella.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Conclusiones de la Semana 1 &amp; Próximos Pasos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456432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1. La Agilidad es una Mentalidad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Verdana"/>
              </a:defRPr>
            </a:pPr>
            <a:r>
              <a:t>Va más allá de herramientas; requiere comunicación abierta, autoorganización y orientación constante a entregar valor real al cliente.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70832" y="2011680"/>
            <a:ext cx="3456432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2. Scrum Estructura el Valor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Verdana"/>
              </a:defRPr>
            </a:pPr>
            <a:r>
              <a:t>Ofrece un marco prescriptivo ideal para proyectos de alta complejidad mediante roles definidos, artefactos y eventos de mejora continua.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0144" y="2011680"/>
            <a:ext cx="3456432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  <a:latin typeface="Georgia"/>
              </a:defRPr>
            </a:pPr>
            <a:r>
              <a:t>3. Kanban Optimiza la Eficiencia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Verdana"/>
              </a:defRPr>
            </a:pPr>
            <a:r>
              <a:t>Permite visualizar el trabajo en tiempo real y eliminar cuellos de botella mediante la restricción estricta del trabajo en proceso (WIP).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97706"/>
                </a:solidFill>
                <a:latin typeface="Georgia"/>
              </a:defRPr>
            </a:pPr>
            <a:r>
              <a:t>🚀 Próximos Pasos para la Semana 2: Proyecto Integrador de Software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Verdana"/>
              </a:defRPr>
            </a:pPr>
            <a:r>
              <a:t>1. Conformación de Scrum Teams (4-5 estudiantes) y elección de Product Owner y Scrum Master.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Verdana"/>
              </a:defRPr>
            </a:pPr>
            <a:r>
              <a:t>2. Configuración del repositorio en GitHub Projects / Trello con las políticas de WIP acordadas.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1794</Words>
  <Application>Microsoft Macintosh PowerPoint</Application>
  <PresentationFormat>Panorámica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Fernando Vázquez</cp:lastModifiedBy>
  <cp:revision>2</cp:revision>
  <dcterms:created xsi:type="dcterms:W3CDTF">2013-01-27T09:14:16Z</dcterms:created>
  <dcterms:modified xsi:type="dcterms:W3CDTF">2026-10-12T01:41:22Z</dcterms:modified>
  <cp:category/>
</cp:coreProperties>
</file>