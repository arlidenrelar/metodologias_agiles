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Bienvenidos a la sesión. Hoy conectaremos lo aprendido sobre Scrum, Kanban, Git y GitHub con el Ciclo de Vida del Software. Tendremos 30 min de alineación teórica y 90 min de práctica directa en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Revisamos las 6 fases clásicas del SDLC según T6.pdf: Requerimientos, Diseño, Codificación, Pruebas, Despliegue y Mantenimiento.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Comparamos la rigidez del modelo Cascada frente a la flexibilidad del ciclo de vida ágil sustentado en Scrum y Kanban.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Mostramos la matriz operativa que conecta el marco metodológico con la ingeniería de software en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Detallamos el flujo de comandos y acciones en GitHub que se utilizarán en el laboratorio práctico.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Explicación de las dos opciones de proyectos de laboratorio en los que trabajarán los estudiantes en parejas.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Cronograma estricto para llevar a los alumnos paso a paso durante los 90 minutos de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de verificación de entrega final que los estudiantes deben cumplir antes de concluir los 90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6200" cy="2926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Ciclo de Vida del Software en la Práctica</a:t>
            </a:r>
          </a:p>
          <a:p>
            <a:pPr>
              <a:spcBef>
                <a:spcPts val="1000"/>
              </a:spcBef>
              <a:defRPr sz="1800">
                <a:solidFill>
                  <a:srgbClr val="0284C7"/>
                </a:solidFill>
                <a:latin typeface="Verdana"/>
              </a:defRPr>
            </a:pPr>
            <a:r>
              <a:t>Integración de Scrum, Kanban, Git y GitHub en los proyectos de Estacionamiento y Biblioteca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E8F0"/>
                </a:solidFill>
                <a:latin typeface="Verdana"/>
              </a:defRPr>
            </a:pPr>
            <a:r>
              <a:t>Sesión de 2 Horas | 30 min Presentación Teórica + 90 min Laboratorio Práctico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Ingeniería de Software — 3.er Semestre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El SDLC comprende 6 fases secuenciales para transformar requerimientos en software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1. Requerimientos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Captura de necesidades de usuarios y del negocio.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50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2. Análisis y Diseño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Arquitectura del sistema, BD y modelado UML.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737360"/>
            <a:ext cx="3291840" cy="50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3. Desarrollo / Cod.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Construcción del código fuente y módulos.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737360"/>
            <a:ext cx="3291840" cy="50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4. Pruebas (QA)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Verificación funcional, unitaria e integración.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32918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5. Despliegue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Pase a producción o entregable ejecutable.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114800"/>
            <a:ext cx="32918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6. Mantenimiento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Corrección de errores y evolutivos del sistema.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114800"/>
            <a:ext cx="32918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La agilidad convierte la secuencia monolítica en ciclos iterativos de feedback rápido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800" b="1">
                <a:solidFill>
                  <a:srgbClr val="991B1B"/>
                </a:solidFill>
                <a:latin typeface="Georgia"/>
              </a:defRPr>
            </a:pPr>
            <a:r>
              <a:t>SDLC Tradicional (Cascada)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Fases lineales y secuenciales (sin volver atrás).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Pruebas y feedback únicamente al final del proyecto.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Alto riesgo de entregar software que no satisface al cliente.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La documentación sustituye la interacción constante.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Cambios de requerimientos son costosos y penalizados.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800" b="1">
                <a:solidFill>
                  <a:srgbClr val="0284C7"/>
                </a:solidFill>
                <a:latin typeface="Georgia"/>
              </a:defRPr>
            </a:pPr>
            <a:r>
              <a:t>SDLC Ágil (Scrum / Kanban)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Ciclos cortos iterativos e incrementales (Sprints).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Todas las fases (diseño, dev, QA) ocurren en cada Sprint.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Feedback continuo del cliente e integración diaria.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Reducción radical del tiempo de entrega (Cycle Time).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Verdana"/>
              </a:defRPr>
            </a:pPr>
            <a:r>
              <a:t>• El cambio es bienvenido como ventaja competitiva.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Cada etapa del ciclo de vida ágil se ejecuta mediante herramientas y artefactos concretos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3108960"/>
                <a:gridCol w="2773375"/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Fase del SDLC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Artefacto Scrum / Kanban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Acción Git / GitHub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Entregable / Evidencia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1. Planificación &amp; Req.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Product Backlog / User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GitHub Issue / Project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Historia estimada en Story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2. Diseño &amp; Tareas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Sprint Backlog / Tablero Kanban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Branch de feature (`feature/us-1`)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Diagrama UML / Rama creada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3. Dev &amp;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In Progress / WIP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Commits atómicos + PR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Código funcional con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4. Review &amp; Integration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Definition of Done (DoD)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Code Review + Merge a `main`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PR Aprobado e Incremento en `main`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El flujo de trabajo Git-Flow apoya la transparencia y límites de WIP de Kanban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1. Asignación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Verdana"/>
              </a:defRPr>
            </a:pPr>
            <a:r>
              <a:t>Mover Issue de 'Backlog' a 'In Progress' en GitHub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2. Rama Feature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Verdana"/>
              </a:defRPr>
            </a:pPr>
            <a:r>
              <a:t>`git checkout -b feature/sistema-estacionamiento`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3. Commits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Verdana"/>
              </a:defRPr>
            </a:pPr>
            <a:r>
              <a:t>Commits atómicos referenciando el Issue (`#12`).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4. Pull Request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Verdana"/>
              </a:defRPr>
            </a:pPr>
            <a:r>
              <a:t>Abrir PR hacia `main` asignando al compañero como Revisor.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5. Code Review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Verdana"/>
              </a:defRPr>
            </a:pPr>
            <a:r>
              <a:t>Aprobación cruzada de código y verificación del Definition of Done.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6. Merge &amp; Done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Verdana"/>
              </a:defRPr>
            </a:pPr>
            <a:r>
              <a:t>Merge del PR y mover tarjeta a 'Done' en el tablero.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Práctica en Laboratorio (90 min): Aplicación al Sistema de Estacionamiento y Biblioteca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700" b="1">
                <a:solidFill>
                  <a:srgbClr val="0F172A"/>
                </a:solidFill>
                <a:latin typeface="Georgia"/>
              </a:defRPr>
            </a:pPr>
            <a:r>
              <a:t>Opción A: Sistema de Estacionamiento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Módulo 1: Registro de Ingreso de Vehículo (Placa, Hora, Tipo).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Módulo 2: Cálculo de Tarifa por Hora y Cobro.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Módulo 3: Disponibilidad de Lugares en Tiempo Real.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Entregable: Repositorio Git + PR aprobado + Tablero Kanban actualizado.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700" b="1">
                <a:solidFill>
                  <a:srgbClr val="0284C7"/>
                </a:solidFill>
                <a:latin typeface="Georgia"/>
              </a:defRPr>
            </a:pPr>
            <a:r>
              <a:t>Opción B: Sistema de Biblioteca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Módulo 1: Registro y Búsqueda de Libros por ISBN/Autor.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Módulo 2: Préstamo de Libro y Control de Fecha de Devolución.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Módulo 3: Calificación de Sanciones por Entrega Tardía.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• Entregable: Repositorio Git + PR aprobado + Tablero Kanban actualizado.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Organización temporal del laboratorio práctico de 90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37360"/>
            <a:ext cx="1645920" cy="7315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Fase 1 (15 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737360"/>
            <a:ext cx="88998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>
                <a:solidFill>
                  <a:srgbClr val="1E293B"/>
                </a:solidFill>
                <a:latin typeface="Verdana"/>
              </a:defRPr>
            </a:pPr>
            <a:r>
              <a:t>Planificación y Backlog: Crear 2 Issues en GitHub Projects y asignar Story Points.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06040"/>
            <a:ext cx="1645920" cy="7315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Fase 2 (15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606040"/>
            <a:ext cx="88998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>
                <a:solidFill>
                  <a:srgbClr val="1E293B"/>
                </a:solidFill>
                <a:latin typeface="Verdana"/>
              </a:defRPr>
            </a:pPr>
            <a:r>
              <a:t>Diseño e Inicio Git: Diseñar diagrama de clases rápido y crear rama `feature/`.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74720"/>
            <a:ext cx="1645920" cy="7315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Fase 3 (35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474720"/>
            <a:ext cx="88998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>
                <a:solidFill>
                  <a:srgbClr val="1E293B"/>
                </a:solidFill>
                <a:latin typeface="Verdana"/>
              </a:defRPr>
            </a:pPr>
            <a:r>
              <a:t>Desarrollo y Kanban: Codificar función principal y mover tarjeta en el tablero (WIP limit: 2).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343400"/>
            <a:ext cx="1645920" cy="7315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Fase 4 (15 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343400"/>
            <a:ext cx="88998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>
                <a:solidFill>
                  <a:srgbClr val="1E293B"/>
                </a:solidFill>
                <a:latin typeface="Verdana"/>
              </a:defRPr>
            </a:pPr>
            <a:r>
              <a:t>Code Review y Merge: Abrir Pull Request, revisión cruzada en parejas y Merge a `main`.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212080"/>
            <a:ext cx="1645920" cy="7315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Fase 5 (10 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5212080"/>
            <a:ext cx="88998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>
                <a:solidFill>
                  <a:srgbClr val="1E293B"/>
                </a:solidFill>
                <a:latin typeface="Verdana"/>
              </a:defRPr>
            </a:pPr>
            <a:r>
              <a:t>Retro y Cierre: Demostración del software funcionando y verificación del DoD.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CICLO DE VIDA DEL SOFTWARE — CLASE PRÁCTICA (2H)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Definition of Done (DoD) para la entrega del laboratorio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317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1. Trazabilidad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El Pull Request en GitHub debe estar vinculado explícitamente al Issue del tablero.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2. Calidad de Código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El código en la rama `main` debe compilar/ejecutar sin errores y seguir buenas prácticas.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3. Code Review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Al menos 1 comentario de revisión cruzada por parte de un compañero en el Pull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4. Estado del Tablero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Verdana"/>
              </a:defRPr>
            </a:pPr>
            <a:r>
              <a:t>Las tarjetas correspondientes a la funcionalidad terminada deben estar en la columna 'Done'.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